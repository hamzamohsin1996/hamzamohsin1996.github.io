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0546"/>
  </p:normalViewPr>
  <p:slideViewPr>
    <p:cSldViewPr snapToGrid="0" snapToObjects="1">
      <p:cViewPr varScale="1">
        <p:scale>
          <a:sx n="66" d="100"/>
          <a:sy n="66" d="100"/>
        </p:scale>
        <p:origin x="22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4622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“I come from software engineering, I studied how interface design affects decision making in a real safety-critical system, I found a concrete gap in current AI support, and my PhD proposal addresses that gap step by step.”</a:t>
            </a:r>
            <a:br>
              <a:rPr lang="en-GB" dirty="0"/>
            </a:br>
            <a:br>
              <a:rPr lang="en-GB" dirty="0"/>
            </a:br>
            <a:r>
              <a:rPr lang="en-GB" dirty="0"/>
              <a:t>“My research is about how people use interfaces to make important decisions in systems where mistakes matter.”</a:t>
            </a:r>
          </a:p>
          <a:p>
            <a:r>
              <a:rPr lang="en-GB" dirty="0"/>
              <a:t>“I focus on situations where humans work with intelligent systems under time pressure.”</a:t>
            </a:r>
          </a:p>
          <a:p>
            <a:r>
              <a:rPr lang="en-GB" dirty="0"/>
              <a:t>“In this talk, I’ll briefly explain my background, my Master’s thesis, and how it leads to my PhD proposal.”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“I started my career as a front-end engineer and worked on complex software systems.”</a:t>
            </a:r>
          </a:p>
          <a:p>
            <a:endParaRPr lang="en-GB" dirty="0"/>
          </a:p>
          <a:p>
            <a:r>
              <a:rPr lang="en-GB" dirty="0"/>
              <a:t>“While doing this, I noticed that interface design strongly affects how people understand information and make decisions.”</a:t>
            </a:r>
          </a:p>
          <a:p>
            <a:endParaRPr lang="en-GB" dirty="0"/>
          </a:p>
          <a:p>
            <a:r>
              <a:rPr lang="en-GB" dirty="0"/>
              <a:t>“This became especially clear in systems that are complex or safety-critical.”</a:t>
            </a:r>
          </a:p>
          <a:p>
            <a:endParaRPr lang="en-GB" dirty="0"/>
          </a:p>
          <a:p>
            <a:r>
              <a:rPr lang="en-GB" dirty="0"/>
              <a:t>“Because of that, I moved into HCI research, where I now study human–system interaction using experiments and prototypes.”</a:t>
            </a:r>
          </a:p>
          <a:p>
            <a:endParaRPr lang="en-GB" dirty="0"/>
          </a:p>
          <a:p>
            <a:r>
              <a:rPr lang="en-GB" dirty="0"/>
              <a:t>“So my background combines software development and research.”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“This experience shaped what I want to study in a PhD.”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“I’m interested in how humans and AI work together in situations where decisions must be made quickly.”</a:t>
            </a:r>
          </a:p>
          <a:p>
            <a:r>
              <a:rPr lang="en-GB" dirty="0"/>
              <a:t>“In my Master’s thesis, I saw that better results did not come from more automation, but from better interaction design.”</a:t>
            </a:r>
          </a:p>
          <a:p>
            <a:r>
              <a:rPr lang="en-GB" dirty="0"/>
              <a:t>“This led me to focus on sensemaking, responsibility, and re-engagement.”</a:t>
            </a:r>
          </a:p>
          <a:p>
            <a:r>
              <a:rPr lang="en-GB" dirty="0"/>
              <a:t>“TU Darmstadt is a good fit because the research here connects HCI, AI, and safety-critical systems.”</a:t>
            </a:r>
          </a:p>
          <a:p>
            <a:endParaRPr lang="en-GB" dirty="0"/>
          </a:p>
          <a:p>
            <a:r>
              <a:rPr lang="en-GB" dirty="0"/>
              <a:t>“I’ll now explain my Master’s thesis, which led directly to my PhD idea.”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“My Master’s thesis studied emergency dispatchers.”</a:t>
            </a:r>
          </a:p>
          <a:p>
            <a:r>
              <a:rPr lang="en-GB" dirty="0"/>
              <a:t>“Dispatchers work under high workload, frequent interruptions, and time pressure.”</a:t>
            </a:r>
          </a:p>
          <a:p>
            <a:r>
              <a:rPr lang="en-GB" dirty="0"/>
              <a:t>“They often have to return to an incident after being interrupted and quickly understand what has changed.”</a:t>
            </a:r>
          </a:p>
          <a:p>
            <a:r>
              <a:rPr lang="en-GB" dirty="0"/>
              <a:t>“UAVs can provide early aerial information, but existing interfaces are designed for field responders, not for dispatchers.”</a:t>
            </a:r>
          </a:p>
          <a:p>
            <a:r>
              <a:rPr lang="en-GB" dirty="0"/>
              <a:t>“This creates a problem during re-engagement.”</a:t>
            </a:r>
          </a:p>
          <a:p>
            <a:endParaRPr lang="en-GB" dirty="0"/>
          </a:p>
          <a:p>
            <a:r>
              <a:rPr lang="en-GB" dirty="0"/>
              <a:t>“To study this, I designed an experimental study.”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“I conducted a controlled experiment with 29 participants.”</a:t>
            </a:r>
          </a:p>
          <a:p>
            <a:r>
              <a:rPr lang="en-GB" dirty="0"/>
              <a:t>“The task simulated emergency dispatching with multitasking and enforced interruptions.”</a:t>
            </a:r>
          </a:p>
          <a:p>
            <a:r>
              <a:rPr lang="en-GB" dirty="0"/>
              <a:t>“The independent variable was the interface: with or without structured UAV information.”</a:t>
            </a:r>
          </a:p>
          <a:p>
            <a:r>
              <a:rPr lang="en-GB" dirty="0"/>
              <a:t>“The goal was to see how interface design affects re-engagement.”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“To answer this, I needed clear measurements.”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“I measured situational awareness using SPAM, focusing on accuracy and response time.”</a:t>
            </a:r>
          </a:p>
          <a:p>
            <a:r>
              <a:rPr lang="en-GB" dirty="0"/>
              <a:t>“I measured re-engagement speed after interruptions.”</a:t>
            </a:r>
          </a:p>
          <a:p>
            <a:r>
              <a:rPr lang="en-GB" dirty="0"/>
              <a:t>“I also measured workload, subjective awareness, and usability.”</a:t>
            </a:r>
          </a:p>
          <a:p>
            <a:r>
              <a:rPr lang="en-GB" dirty="0"/>
              <a:t>“The system combined a Unity simulation and a web-based interface.”</a:t>
            </a:r>
          </a:p>
          <a:p>
            <a:r>
              <a:rPr lang="en-GB" dirty="0"/>
              <a:t>“All events and interactions were logged and synchronized.”</a:t>
            </a:r>
          </a:p>
          <a:p>
            <a:r>
              <a:rPr lang="en-GB" dirty="0"/>
              <a:t>“This allowed precise analysis of user </a:t>
            </a:r>
            <a:r>
              <a:rPr lang="en-GB" dirty="0" err="1"/>
              <a:t>behavior</a:t>
            </a:r>
            <a:r>
              <a:rPr lang="en-GB" dirty="0"/>
              <a:t>.”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“This leads to the main findings.”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“Structured UAV information improved re-engagement accuracy and response time.”</a:t>
            </a:r>
          </a:p>
          <a:p>
            <a:r>
              <a:rPr lang="en-GB" dirty="0"/>
              <a:t>“This happened without increasing workload or task time.”</a:t>
            </a:r>
          </a:p>
          <a:p>
            <a:r>
              <a:rPr lang="en-GB" dirty="0"/>
              <a:t>“One key insight was that continuous video alone is not enough.”</a:t>
            </a:r>
          </a:p>
          <a:p>
            <a:r>
              <a:rPr lang="en-GB" dirty="0"/>
              <a:t>“How information is presented determines whether users can understand the situation.”</a:t>
            </a:r>
          </a:p>
          <a:p>
            <a:r>
              <a:rPr lang="en-GB" dirty="0"/>
              <a:t>“This insight motivated my PhD proposal.”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“The same problem also appears in other domains, such as cybersecurity.”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“In SOCs, alert triage is also a sensemaking process.”</a:t>
            </a:r>
          </a:p>
          <a:p>
            <a:r>
              <a:rPr lang="en-GB" dirty="0"/>
              <a:t>“Analysts continuously build and update their understanding under time pressure.”</a:t>
            </a:r>
          </a:p>
          <a:p>
            <a:r>
              <a:rPr lang="en-GB" dirty="0"/>
              <a:t>“Current AI systems focus on throughput and classification.”</a:t>
            </a:r>
          </a:p>
          <a:p>
            <a:r>
              <a:rPr lang="en-GB" dirty="0"/>
              <a:t>“They do not support how analysts reason or retain responsibility.”</a:t>
            </a:r>
          </a:p>
          <a:p>
            <a:r>
              <a:rPr lang="en-GB" dirty="0"/>
              <a:t>“There is no empirical model of analyst–AI interaction during triage.”</a:t>
            </a:r>
          </a:p>
          <a:p>
            <a:endParaRPr lang="en-GB" dirty="0"/>
          </a:p>
          <a:p>
            <a:r>
              <a:rPr lang="en-GB" dirty="0"/>
              <a:t>“This leads to my research questions.”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“SOC alert triage is fundamentally a </a:t>
            </a:r>
            <a:r>
              <a:rPr lang="en-GB" b="1" dirty="0"/>
              <a:t>sensemaking process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Analysts are continuously constructing and revising interpretations of an incident under time pressure.”</a:t>
            </a:r>
          </a:p>
          <a:p>
            <a:r>
              <a:rPr lang="en-GB" dirty="0"/>
              <a:t>“Current AI systems mainly optimize </a:t>
            </a:r>
            <a:r>
              <a:rPr lang="en-GB" b="1" dirty="0"/>
              <a:t>throughput and classification</a:t>
            </a:r>
            <a:r>
              <a:rPr lang="en-GB" dirty="0"/>
              <a:t> — for example, prioritizing alerts or correlating events.”</a:t>
            </a:r>
          </a:p>
          <a:p>
            <a:r>
              <a:rPr lang="en-GB" dirty="0"/>
              <a:t>“However, they do not support </a:t>
            </a:r>
            <a:r>
              <a:rPr lang="en-GB" b="1" dirty="0"/>
              <a:t>how analysts reason</a:t>
            </a:r>
            <a:r>
              <a:rPr lang="en-GB" dirty="0"/>
              <a:t>, how decisions are negotiated, or how responsibility is retained when AI suggestions are involved.”</a:t>
            </a:r>
          </a:p>
          <a:p>
            <a:r>
              <a:rPr lang="en-GB" dirty="0"/>
              <a:t>“As a result, we lack </a:t>
            </a:r>
            <a:r>
              <a:rPr lang="en-GB" b="1" dirty="0"/>
              <a:t>empirical models of analyst–AI interaction</a:t>
            </a:r>
            <a:r>
              <a:rPr lang="en-GB" dirty="0"/>
              <a:t> during early triage — including decision boundaries, accountability, and control.”</a:t>
            </a:r>
          </a:p>
          <a:p>
            <a:r>
              <a:rPr lang="en-GB" dirty="0"/>
              <a:t>“Today, AI is evaluated primarily as an </a:t>
            </a:r>
            <a:r>
              <a:rPr lang="en-GB" b="1" dirty="0"/>
              <a:t>output-producing system</a:t>
            </a:r>
            <a:r>
              <a:rPr lang="en-GB" dirty="0"/>
              <a:t>, not as a </a:t>
            </a:r>
            <a:r>
              <a:rPr lang="en-GB" b="1" dirty="0"/>
              <a:t>collaborative decision partner</a:t>
            </a:r>
            <a:r>
              <a:rPr lang="en-GB" dirty="0"/>
              <a:t>.”</a:t>
            </a:r>
          </a:p>
          <a:p>
            <a:r>
              <a:rPr lang="en-GB" dirty="0"/>
              <a:t>“This gap motivates my work on designing and evaluating human–AI collaboration for high-stakes decision making.”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“In short, we optimize AI for output accuracy, but we don’t yet understand or design for how humans and AI collaborate during early, high-stakes decisions.”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“First, I ask where cognitive bottlenecks and decision boundaries occur.”</a:t>
            </a:r>
          </a:p>
          <a:p>
            <a:r>
              <a:rPr lang="en-GB" dirty="0"/>
              <a:t>“Second, I ask how interaction design can support collaboration while keeping humans in control.”</a:t>
            </a:r>
          </a:p>
          <a:p>
            <a:r>
              <a:rPr lang="en-GB" dirty="0"/>
              <a:t>“Third, I evaluate whether these designs improve decision quality and understanding.”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“To answer these questions, I follow a structured methodology.”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“The research follows three phases.”</a:t>
            </a:r>
          </a:p>
          <a:p>
            <a:r>
              <a:rPr lang="en-GB" dirty="0"/>
              <a:t>“First, I </a:t>
            </a:r>
            <a:r>
              <a:rPr lang="en-GB" dirty="0" err="1"/>
              <a:t>analyze</a:t>
            </a:r>
            <a:r>
              <a:rPr lang="en-GB" dirty="0"/>
              <a:t> current analyst–AI interaction.”</a:t>
            </a:r>
          </a:p>
          <a:p>
            <a:r>
              <a:rPr lang="en-GB" dirty="0"/>
              <a:t>“Second, I design interaction mechanisms based on this analysis.”</a:t>
            </a:r>
          </a:p>
          <a:p>
            <a:r>
              <a:rPr lang="en-GB" dirty="0"/>
              <a:t>“Third, I evaluate these designs in controlled studies.”</a:t>
            </a:r>
          </a:p>
          <a:p>
            <a:endParaRPr lang="en-GB" dirty="0"/>
          </a:p>
          <a:p>
            <a:r>
              <a:rPr lang="en-GB" dirty="0"/>
              <a:t>“Finally, I want to summarize what this contributes.”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“I evaluate decision quality, situational awareness, and the ability to justify decisions.”</a:t>
            </a:r>
          </a:p>
          <a:p>
            <a:r>
              <a:rPr lang="en-GB" dirty="0"/>
              <a:t>“The contribution is not better automation.”</a:t>
            </a:r>
          </a:p>
          <a:p>
            <a:r>
              <a:rPr lang="en-GB" dirty="0"/>
              <a:t>“The contribution is better human–AI interaction.”</a:t>
            </a:r>
          </a:p>
          <a:p>
            <a:r>
              <a:rPr lang="en-GB" dirty="0"/>
              <a:t>“This includes models, design principles, and empirical evidence.”</a:t>
            </a:r>
          </a:p>
          <a:p>
            <a:endParaRPr lang="en-GB" dirty="0"/>
          </a:p>
          <a:p>
            <a:r>
              <a:rPr lang="en-GB" dirty="0"/>
              <a:t>“I’ll end here.”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“Thank you for your time.”</a:t>
            </a:r>
          </a:p>
          <a:p>
            <a:r>
              <a:rPr lang="en-GB" dirty="0"/>
              <a:t>“I’m happy to discuss any part of the work in more detail.”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rxiv.org/abs/2107.02941" TargetMode="External"/><Relationship Id="rId4" Type="http://schemas.openxmlformats.org/officeDocument/2006/relationships/hyperlink" Target="https://www.nist.gov/publications/computer-security-incident-handling-guide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23853" y="4999038"/>
            <a:ext cx="263162" cy="88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>
            <a:hlinkClick r:id="rId4"/>
          </p:cNvPr>
          <p:cNvSpPr/>
          <p:nvPr/>
        </p:nvSpPr>
        <p:spPr>
          <a:xfrm>
            <a:off x="1257184" y="5349875"/>
            <a:ext cx="528505" cy="101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>
            <a:hlinkClick r:id="rId5"/>
          </p:cNvPr>
          <p:cNvSpPr/>
          <p:nvPr/>
        </p:nvSpPr>
        <p:spPr>
          <a:xfrm>
            <a:off x="1887264" y="5349875"/>
            <a:ext cx="649125" cy="101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57184" y="4664075"/>
            <a:ext cx="649125" cy="101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2007884" y="4664075"/>
            <a:ext cx="821425" cy="101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930884" y="4664075"/>
            <a:ext cx="611332" cy="101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50387" y="3063875"/>
            <a:ext cx="2742514" cy="1511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196051" y="3063875"/>
            <a:ext cx="2742514" cy="1511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1001</Words>
  <Application>Microsoft Macintosh PowerPoint</Application>
  <PresentationFormat>Custom</PresentationFormat>
  <Paragraphs>104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Mohsin, Hamza (Stud. I - UXM)</cp:lastModifiedBy>
  <cp:revision>9</cp:revision>
  <dcterms:created xsi:type="dcterms:W3CDTF">2026-01-26T00:01:58Z</dcterms:created>
  <dcterms:modified xsi:type="dcterms:W3CDTF">2026-01-26T21:59:03Z</dcterms:modified>
</cp:coreProperties>
</file>