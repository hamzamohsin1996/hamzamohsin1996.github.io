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69196"/>
  </p:normalViewPr>
  <p:slideViewPr>
    <p:cSldViewPr snapToGrid="0" snapToObjects="1">
      <p:cViewPr>
        <p:scale>
          <a:sx n="110" d="100"/>
          <a:sy n="110" d="100"/>
        </p:scale>
        <p:origin x="536" y="-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14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“A Security Operations </a:t>
            </a:r>
            <a:r>
              <a:rPr lang="en-GB" dirty="0" err="1"/>
              <a:t>Center</a:t>
            </a:r>
            <a:r>
              <a:rPr lang="en-GB" dirty="0"/>
              <a:t>, or SOC, is responsible for monitoring systems and responding to security alerts.</a:t>
            </a:r>
            <a:br>
              <a:rPr lang="en-GB" dirty="0"/>
            </a:br>
            <a:r>
              <a:rPr lang="en-GB" dirty="0"/>
              <a:t>Analysts perform alert triage: deciding whether an alert should be dismissed, escalated, or trigger containment.”</a:t>
            </a:r>
          </a:p>
          <a:p>
            <a:r>
              <a:rPr lang="en-GB" dirty="0"/>
              <a:t>“This happens under time pressure, with incomplete information, and analysts remain accountable for early decisions.”</a:t>
            </a:r>
          </a:p>
          <a:p>
            <a:r>
              <a:rPr lang="en-GB" dirty="0"/>
              <a:t>“In this proposal, I focus specifically on this early triage phase, where interpretation and responsibility are critical.”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“Prior work shows that alert triage is fundamentally a sensemaking process.</a:t>
            </a:r>
            <a:br>
              <a:rPr lang="en-GB" dirty="0"/>
            </a:br>
            <a:r>
              <a:rPr lang="en-GB" dirty="0"/>
              <a:t>Analysts construct and revise hypotheses using alerts, logs, and context.”</a:t>
            </a:r>
          </a:p>
          <a:p>
            <a:r>
              <a:rPr lang="en-GB" dirty="0"/>
              <a:t>“However, current AI systems in SOCs mainly optimize throughput — prioritization, correlation, summaries.”</a:t>
            </a:r>
          </a:p>
          <a:p>
            <a:r>
              <a:rPr lang="en-GB" dirty="0"/>
              <a:t>“What’s missing is support for </a:t>
            </a:r>
            <a:r>
              <a:rPr lang="en-GB" i="1" dirty="0"/>
              <a:t>how analysts reason</a:t>
            </a:r>
            <a:r>
              <a:rPr lang="en-GB" dirty="0"/>
              <a:t>, negotiate decisions, and retain responsibility when AI is involved.”</a:t>
            </a:r>
          </a:p>
          <a:p>
            <a:r>
              <a:rPr lang="en-GB" dirty="0"/>
              <a:t>“As a result, we lack empirical models of analyst–AI interaction, decision boundaries, and accountability during triage.”</a:t>
            </a:r>
          </a:p>
          <a:p>
            <a:endParaRPr lang="en-GB" dirty="0"/>
          </a:p>
          <a:p>
            <a:r>
              <a:rPr lang="en-GB" dirty="0"/>
              <a:t>“AI is evaluated as output quality, not as a collaborative decision partner.”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research questions follow directly from this gap.”</a:t>
            </a:r>
          </a:p>
          <a:p>
            <a:r>
              <a:rPr lang="en-GB" b="1" dirty="0"/>
              <a:t>RQ1</a:t>
            </a:r>
            <a:endParaRPr lang="en-GB" dirty="0"/>
          </a:p>
          <a:p>
            <a:r>
              <a:rPr lang="en-GB" dirty="0"/>
              <a:t>“First, I ask where cognitive bottlenecks, decision boundaries, and responsibility shifts occur when analysts use AI during triage.”</a:t>
            </a:r>
          </a:p>
          <a:p>
            <a:r>
              <a:rPr lang="en-GB" b="1" dirty="0"/>
              <a:t>RQ2</a:t>
            </a:r>
            <a:endParaRPr lang="en-GB" dirty="0"/>
          </a:p>
          <a:p>
            <a:r>
              <a:rPr lang="en-GB" dirty="0"/>
              <a:t>“Second, I investigate what interaction mechanisms allow analysts to co-construct incident interpretations with AI while retaining control.”</a:t>
            </a:r>
          </a:p>
          <a:p>
            <a:r>
              <a:rPr lang="en-GB" b="1" dirty="0"/>
              <a:t>RQ3</a:t>
            </a:r>
            <a:endParaRPr lang="en-GB" dirty="0"/>
          </a:p>
          <a:p>
            <a:r>
              <a:rPr lang="en-GB" dirty="0"/>
              <a:t>“Third, I evaluate whether such co-constructive interfaces actually change decision quality, situational awareness, and justification.”</a:t>
            </a:r>
          </a:p>
          <a:p>
            <a:r>
              <a:rPr lang="en-GB" b="1" dirty="0"/>
              <a:t>Meta framing (important):</a:t>
            </a:r>
            <a:endParaRPr lang="en-GB" dirty="0"/>
          </a:p>
          <a:p>
            <a:r>
              <a:rPr lang="en-GB" dirty="0"/>
              <a:t>“RQ1 is descriptive, RQ2 is constructive, and RQ3 is evaluative.”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methodology follows a structured HCI pipeline with three phases.”</a:t>
            </a:r>
          </a:p>
          <a:p>
            <a:r>
              <a:rPr lang="en-GB" b="1" dirty="0"/>
              <a:t>Phase 1 — Analysis</a:t>
            </a:r>
            <a:endParaRPr lang="en-GB" dirty="0"/>
          </a:p>
          <a:p>
            <a:r>
              <a:rPr lang="en-GB" dirty="0"/>
              <a:t>“I empirically study how analysts interact with AI-supported triage tools using observation, task analysis, and interviews.”</a:t>
            </a:r>
          </a:p>
          <a:p>
            <a:r>
              <a:rPr lang="en-GB" dirty="0"/>
              <a:t>“The output is a workflow and decision-boundary model that captures breakdowns and responsibility shifts.”</a:t>
            </a:r>
          </a:p>
          <a:p>
            <a:r>
              <a:rPr lang="en-GB" b="1" dirty="0"/>
              <a:t>Phase 2 — Design</a:t>
            </a:r>
            <a:endParaRPr lang="en-GB" dirty="0"/>
          </a:p>
          <a:p>
            <a:r>
              <a:rPr lang="en-GB" dirty="0"/>
              <a:t>“These findings directly inform the design of co-constructive interaction mechanisms.”</a:t>
            </a:r>
          </a:p>
          <a:p>
            <a:r>
              <a:rPr lang="en-GB" dirty="0"/>
              <a:t>“The result is an interactive triage interface that allows analyst feedback and influence.”</a:t>
            </a:r>
          </a:p>
          <a:p>
            <a:endParaRPr lang="en-GB" dirty="0"/>
          </a:p>
          <a:p>
            <a:r>
              <a:rPr lang="en-GB" b="1" dirty="0"/>
              <a:t>Phase 3 — Evaluation</a:t>
            </a:r>
            <a:endParaRPr lang="en-GB" dirty="0"/>
          </a:p>
          <a:p>
            <a:r>
              <a:rPr lang="en-GB" dirty="0"/>
              <a:t>“Finally, I evaluate this interface in controlled studies against baseline AI support.”</a:t>
            </a:r>
          </a:p>
          <a:p>
            <a:r>
              <a:rPr lang="en-GB" b="1" dirty="0"/>
              <a:t>Key sentence (very important):</a:t>
            </a:r>
            <a:endParaRPr lang="en-GB" dirty="0"/>
          </a:p>
          <a:p>
            <a:r>
              <a:rPr lang="en-GB" dirty="0"/>
              <a:t>“Each phase produces artifacts that directly constrain the next phase.”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“Evaluation focuses on both task outcomes and human factors.”</a:t>
            </a:r>
          </a:p>
          <a:p>
            <a:r>
              <a:rPr lang="en-GB" dirty="0"/>
              <a:t>“I examine decision accuracy, situational awareness during triage, the ability to justify decisions, and changes in system </a:t>
            </a:r>
            <a:r>
              <a:rPr lang="en-GB" dirty="0" err="1"/>
              <a:t>behavior</a:t>
            </a:r>
            <a:r>
              <a:rPr lang="en-GB" dirty="0"/>
              <a:t> over time.”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“The scientific contributions are threefold.”</a:t>
            </a:r>
          </a:p>
          <a:p>
            <a:r>
              <a:rPr lang="en-GB" dirty="0"/>
              <a:t>“First, an empirical model of analyst–AI interaction during SOC triage.”</a:t>
            </a:r>
          </a:p>
          <a:p>
            <a:r>
              <a:rPr lang="en-GB" dirty="0"/>
              <a:t>“Second, interaction design principles for co-construction in high-stakes cybersecurity contexts.”</a:t>
            </a:r>
          </a:p>
          <a:p>
            <a:r>
              <a:rPr lang="en-GB" dirty="0"/>
              <a:t>“Third, empirical evidence for AI support that preserves accountability rather than obscuring it.”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“The contribution is not a better model, but a better interaction between humans and AI in high-stakes decisions.”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107.02941" TargetMode="External"/><Relationship Id="rId4" Type="http://schemas.openxmlformats.org/officeDocument/2006/relationships/hyperlink" Target="https://www.nist.gov/publications/computer-security-incident-handling-guid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412.10380" TargetMode="External"/><Relationship Id="rId5" Type="http://schemas.openxmlformats.org/officeDocument/2006/relationships/hyperlink" Target="https://doi.org/10.1177/14738716231189220" TargetMode="External"/><Relationship Id="rId4" Type="http://schemas.openxmlformats.org/officeDocument/2006/relationships/hyperlink" Target="https://arxiv.org/abs/2107.0294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hlinkClick r:id="rId4"/>
          </p:cNvPr>
          <p:cNvSpPr/>
          <p:nvPr/>
        </p:nvSpPr>
        <p:spPr>
          <a:xfrm>
            <a:off x="1257184" y="5349875"/>
            <a:ext cx="52850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hlinkClick r:id="rId5"/>
          </p:cNvPr>
          <p:cNvSpPr/>
          <p:nvPr/>
        </p:nvSpPr>
        <p:spPr>
          <a:xfrm>
            <a:off x="1887264" y="53498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hlinkClick r:id="rId4"/>
          </p:cNvPr>
          <p:cNvSpPr/>
          <p:nvPr/>
        </p:nvSpPr>
        <p:spPr>
          <a:xfrm>
            <a:off x="1257184" y="46640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hlinkClick r:id="rId5"/>
          </p:cNvPr>
          <p:cNvSpPr/>
          <p:nvPr/>
        </p:nvSpPr>
        <p:spPr>
          <a:xfrm>
            <a:off x="2007884" y="4664075"/>
            <a:ext cx="8214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>
            <a:hlinkClick r:id="rId6"/>
          </p:cNvPr>
          <p:cNvSpPr/>
          <p:nvPr/>
        </p:nvSpPr>
        <p:spPr>
          <a:xfrm>
            <a:off x="2930884" y="4664075"/>
            <a:ext cx="611332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512</Words>
  <Application>Microsoft Macintosh PowerPoint</Application>
  <PresentationFormat>Custom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Mohsin, Hamza (Stud. I - UXM)</cp:lastModifiedBy>
  <cp:revision>3</cp:revision>
  <dcterms:created xsi:type="dcterms:W3CDTF">2026-01-25T23:11:05Z</dcterms:created>
  <dcterms:modified xsi:type="dcterms:W3CDTF">2026-01-25T23:20:47Z</dcterms:modified>
</cp:coreProperties>
</file>