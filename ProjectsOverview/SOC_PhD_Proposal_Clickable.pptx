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0546"/>
  </p:normalViewPr>
  <p:slideViewPr>
    <p:cSldViewPr snapToGrid="0" snapToObjects="1">
      <p:cViewPr varScale="1">
        <p:scale>
          <a:sx n="66" d="100"/>
          <a:sy n="66" d="100"/>
        </p:scale>
        <p:origin x="2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62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“My work focuses on human-</a:t>
            </a:r>
            <a:r>
              <a:rPr lang="en-GB" dirty="0" err="1"/>
              <a:t>centered</a:t>
            </a:r>
            <a:r>
              <a:rPr lang="en-GB" dirty="0"/>
              <a:t> interface design for safety-critical systems, particularly where humans interact with intelligent systems under time pressure.”</a:t>
            </a:r>
          </a:p>
          <a:p>
            <a:r>
              <a:rPr lang="en-GB" dirty="0"/>
              <a:t>“I’m interested in how interaction design shapes human decision making when errors have serious consequences.”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started my career as a front-end engineer, building complex enterprise user interfaces.”</a:t>
            </a:r>
          </a:p>
          <a:p>
            <a:r>
              <a:rPr lang="en-GB" dirty="0"/>
              <a:t>“Through this work, I became increasingly interested in how interface design affects human decision making in complex systems, not just usability.”</a:t>
            </a:r>
          </a:p>
          <a:p>
            <a:r>
              <a:rPr lang="en-GB" dirty="0"/>
              <a:t>“This motivated my transition into HCI research, where I now combine experimental methods with full-stack prototyping.”</a:t>
            </a:r>
          </a:p>
          <a:p>
            <a:r>
              <a:rPr lang="en-GB" dirty="0"/>
              <a:t>“My Master’s thesis was my first step into systematic, experimental HCI research.”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“My motivation comes from studying how humans and AI collaborate in high-stakes, time-critical environments.”</a:t>
            </a:r>
          </a:p>
          <a:p>
            <a:r>
              <a:rPr lang="en-GB" dirty="0"/>
              <a:t>“My Master’s work showed that performance improvements come less from automation and more from interaction design that supports sensemaking and responsibility.”</a:t>
            </a:r>
          </a:p>
          <a:p>
            <a:r>
              <a:rPr lang="en-GB" dirty="0"/>
              <a:t>“This research environment is a strong fit because it explicitly studies human-AI collaboration in safety-critical domains.”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“Emergency dispatchers coordinate incidents under high workload, frequent interruptions, and time pressure.”</a:t>
            </a:r>
          </a:p>
          <a:p>
            <a:r>
              <a:rPr lang="en-GB" dirty="0"/>
              <a:t>“UAVs can provide early aerial information, but most existing UAV interfaces are designed for field responders.”</a:t>
            </a:r>
          </a:p>
          <a:p>
            <a:r>
              <a:rPr lang="en-GB" dirty="0"/>
              <a:t>“Dispatchers, however, must frequently re-engage with incidents after interruptions, which existing interfaces do not support well.”</a:t>
            </a:r>
          </a:p>
          <a:p>
            <a:r>
              <a:rPr lang="en-GB" dirty="0"/>
              <a:t>“This gap motivated my research question.”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conducted a within-subjects experiment with 29 participants.”</a:t>
            </a:r>
          </a:p>
          <a:p>
            <a:r>
              <a:rPr lang="en-GB" dirty="0"/>
              <a:t>“Participants performed a simulated emergency dispatching task with enforced interruptions.”</a:t>
            </a:r>
          </a:p>
          <a:p>
            <a:r>
              <a:rPr lang="en-GB" dirty="0"/>
              <a:t>“The independent variable was the interface condition: with versus without structured UAV information support.”</a:t>
            </a:r>
          </a:p>
          <a:p>
            <a:r>
              <a:rPr lang="en-GB" dirty="0"/>
              <a:t>“This allowed us to isolate the effect of interaction design while controlling for individual differences.”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“Situational awareness was measured objectively using SPAM probes, focusing on accuracy and response time.”</a:t>
            </a:r>
          </a:p>
          <a:p>
            <a:r>
              <a:rPr lang="en-GB" dirty="0"/>
              <a:t>“Cognitive workload was measured using the Detection Response Task, along with SART and SUS for subjective measures.”</a:t>
            </a:r>
          </a:p>
          <a:p>
            <a:r>
              <a:rPr lang="en-GB" dirty="0"/>
              <a:t>“All measures were instrumented directly in the system.”</a:t>
            </a:r>
          </a:p>
          <a:p>
            <a:r>
              <a:rPr lang="en-GB" dirty="0"/>
              <a:t>“The Unity simulation logged UAV state and event timing, while the web-based dispatcher interface logged interactions and responses.”</a:t>
            </a:r>
          </a:p>
          <a:p>
            <a:r>
              <a:rPr lang="en-GB" dirty="0"/>
              <a:t>“Both were synchronized via timestamps and trial IDs, enabling precise alignment of system events and user </a:t>
            </a:r>
            <a:r>
              <a:rPr lang="en-GB" dirty="0" err="1"/>
              <a:t>behavior</a:t>
            </a:r>
            <a:r>
              <a:rPr lang="en-GB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“Structured UAV information significantly improved re-engagement accuracy and response time after interruptions.”</a:t>
            </a:r>
          </a:p>
          <a:p>
            <a:r>
              <a:rPr lang="en-GB" dirty="0"/>
              <a:t>“Importantly, these improvements did not come at the cost of increased workload or task time.”</a:t>
            </a:r>
          </a:p>
          <a:p>
            <a:r>
              <a:rPr lang="en-GB" dirty="0"/>
              <a:t>“One key insight is that continuous video alone is insufficient.”</a:t>
            </a:r>
          </a:p>
          <a:p>
            <a:r>
              <a:rPr lang="en-GB" dirty="0"/>
              <a:t>“Interaction design determines whether information supports or hinders sensemaking during re-engagement.”</a:t>
            </a:r>
          </a:p>
          <a:p>
            <a:r>
              <a:rPr lang="en-GB" dirty="0"/>
              <a:t>“This insight directly motivated my interest in human-AI collaboration.”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“This work showed that interaction design shapes how people recover understanding after interruptions.”</a:t>
            </a:r>
          </a:p>
          <a:p>
            <a:r>
              <a:rPr lang="en-GB" dirty="0"/>
              <a:t>“My PhD proposal builds on this by studying how humans and AI can co-construct understanding in high-stakes decision making.”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“A Security Operations </a:t>
            </a:r>
            <a:r>
              <a:rPr lang="en-GB" dirty="0" err="1"/>
              <a:t>Center</a:t>
            </a:r>
            <a:r>
              <a:rPr lang="en-GB" dirty="0"/>
              <a:t>, or SOC, is responsible for monitoring systems and responding to security alerts.</a:t>
            </a:r>
            <a:br>
              <a:rPr lang="en-GB" dirty="0"/>
            </a:br>
            <a:r>
              <a:rPr lang="en-GB" dirty="0"/>
              <a:t>Analysts perform alert triage: deciding whether an alert should be dismissed, escalated, or trigger containment.”</a:t>
            </a:r>
          </a:p>
          <a:p>
            <a:r>
              <a:rPr lang="en-GB" dirty="0"/>
              <a:t>“This happens under time pressure, with incomplete information, and analysts remain accountable for early decisions.”</a:t>
            </a:r>
          </a:p>
          <a:p>
            <a:r>
              <a:rPr lang="en-GB" dirty="0"/>
              <a:t>“In this proposal, I focus specifically on this early triage phase, where interpretation and responsibility are critical.”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“A Security Operations </a:t>
            </a:r>
            <a:r>
              <a:rPr lang="en-GB" dirty="0" err="1"/>
              <a:t>Center</a:t>
            </a:r>
            <a:r>
              <a:rPr lang="en-GB" dirty="0"/>
              <a:t>, or SOC, is responsible for monitoring systems and responding to security alerts.</a:t>
            </a:r>
            <a:br>
              <a:rPr lang="en-GB" dirty="0"/>
            </a:br>
            <a:r>
              <a:rPr lang="en-GB" dirty="0"/>
              <a:t>Analysts perform alert triage: deciding whether an alert should be dismissed, escalated, or trigger containment.”</a:t>
            </a:r>
          </a:p>
          <a:p>
            <a:r>
              <a:rPr lang="en-GB" dirty="0"/>
              <a:t>“This happens under time pressure, with incomplete information, and analysts remain accountable for early decisions.”</a:t>
            </a:r>
          </a:p>
          <a:p>
            <a:r>
              <a:rPr lang="en-GB" dirty="0"/>
              <a:t>“In this proposal, I focus specifically on this early triage phase, where interpretation and responsibility are critical.”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research questions follow directly from this gap.”</a:t>
            </a:r>
          </a:p>
          <a:p>
            <a:r>
              <a:rPr lang="en-GB" b="1" dirty="0"/>
              <a:t>RQ1</a:t>
            </a:r>
            <a:endParaRPr lang="en-GB" dirty="0"/>
          </a:p>
          <a:p>
            <a:r>
              <a:rPr lang="en-GB" dirty="0"/>
              <a:t>“First, I ask where cognitive bottlenecks, decision boundaries, and responsibility shifts occur when analysts use AI during triage.”</a:t>
            </a:r>
          </a:p>
          <a:p>
            <a:r>
              <a:rPr lang="en-GB" b="1" dirty="0"/>
              <a:t>RQ2</a:t>
            </a:r>
            <a:endParaRPr lang="en-GB" dirty="0"/>
          </a:p>
          <a:p>
            <a:r>
              <a:rPr lang="en-GB" dirty="0"/>
              <a:t>“Second, I investigate what interaction mechanisms allow analysts to co-construct incident interpretations with AI while retaining control.”</a:t>
            </a:r>
          </a:p>
          <a:p>
            <a:r>
              <a:rPr lang="en-GB" b="1" dirty="0"/>
              <a:t>RQ3</a:t>
            </a:r>
            <a:endParaRPr lang="en-GB" dirty="0"/>
          </a:p>
          <a:p>
            <a:r>
              <a:rPr lang="en-GB" dirty="0"/>
              <a:t>“Third, I evaluate whether such co-constructive interfaces actually change decision quality, situational awareness, and justification.”</a:t>
            </a:r>
          </a:p>
          <a:p>
            <a:r>
              <a:rPr lang="en-GB" b="1" dirty="0"/>
              <a:t>Meta framing (important):</a:t>
            </a:r>
            <a:endParaRPr lang="en-GB" dirty="0"/>
          </a:p>
          <a:p>
            <a:r>
              <a:rPr lang="en-GB" dirty="0"/>
              <a:t>“RQ1 is descriptive, RQ2 is constructive, and RQ3 is evaluative.”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methodology follows a structured HCI pipeline with three phases.”</a:t>
            </a:r>
          </a:p>
          <a:p>
            <a:r>
              <a:rPr lang="en-GB" b="1" dirty="0"/>
              <a:t>Phase 1 — Analysis</a:t>
            </a:r>
            <a:endParaRPr lang="en-GB" dirty="0"/>
          </a:p>
          <a:p>
            <a:r>
              <a:rPr lang="en-GB" dirty="0"/>
              <a:t>“I empirically study how analysts interact with AI-supported triage tools using observation, task analysis, and interviews.”</a:t>
            </a:r>
          </a:p>
          <a:p>
            <a:r>
              <a:rPr lang="en-GB" dirty="0"/>
              <a:t>“The output is a workflow and decision-boundary model that captures breakdowns and responsibility shifts.”</a:t>
            </a:r>
          </a:p>
          <a:p>
            <a:r>
              <a:rPr lang="en-GB" b="1" dirty="0"/>
              <a:t>Phase 2 — Design</a:t>
            </a:r>
            <a:endParaRPr lang="en-GB" dirty="0"/>
          </a:p>
          <a:p>
            <a:r>
              <a:rPr lang="en-GB" dirty="0"/>
              <a:t>“These findings directly inform the design of co-constructive interaction mechanisms.”</a:t>
            </a:r>
          </a:p>
          <a:p>
            <a:r>
              <a:rPr lang="en-GB" dirty="0"/>
              <a:t>“The result is an interactive triage interface that allows analyst feedback and influence.”</a:t>
            </a:r>
          </a:p>
          <a:p>
            <a:endParaRPr lang="en-GB" dirty="0"/>
          </a:p>
          <a:p>
            <a:r>
              <a:rPr lang="en-GB" b="1" dirty="0"/>
              <a:t>Phase 3 — Evaluation</a:t>
            </a:r>
            <a:endParaRPr lang="en-GB" dirty="0"/>
          </a:p>
          <a:p>
            <a:r>
              <a:rPr lang="en-GB" dirty="0"/>
              <a:t>“Finally, I evaluate this interface in controlled studies against baseline AI support.”</a:t>
            </a:r>
          </a:p>
          <a:p>
            <a:r>
              <a:rPr lang="en-GB" b="1" dirty="0"/>
              <a:t>Key sentence (very important):</a:t>
            </a:r>
            <a:endParaRPr lang="en-GB" dirty="0"/>
          </a:p>
          <a:p>
            <a:r>
              <a:rPr lang="en-GB" dirty="0"/>
              <a:t>“Each phase produces artifacts that directly constrain the next phase.”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“Evaluation focuses on both task outcomes and human factors.”</a:t>
            </a:r>
          </a:p>
          <a:p>
            <a:r>
              <a:rPr lang="en-GB" dirty="0"/>
              <a:t>“I examine decision accuracy, situational awareness during triage, the ability to justify decisions, and changes in system </a:t>
            </a:r>
            <a:r>
              <a:rPr lang="en-GB" dirty="0" err="1"/>
              <a:t>behavior</a:t>
            </a:r>
            <a:r>
              <a:rPr lang="en-GB" dirty="0"/>
              <a:t> over time.”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“The scientific contributions are threefold.”</a:t>
            </a:r>
          </a:p>
          <a:p>
            <a:r>
              <a:rPr lang="en-GB" dirty="0"/>
              <a:t>“First, an empirical model of analyst–AI interaction during SOC triage.”</a:t>
            </a:r>
          </a:p>
          <a:p>
            <a:r>
              <a:rPr lang="en-GB" dirty="0"/>
              <a:t>“Second, interaction design principles for co-construction in high-stakes cybersecurity contexts.”</a:t>
            </a:r>
          </a:p>
          <a:p>
            <a:r>
              <a:rPr lang="en-GB" dirty="0"/>
              <a:t>“Third, empirical evidence for AI support that preserves accountability rather than obscuring it.”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“The contribution is not a better model, but a better interaction between humans and AI in high-stakes decisions.”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PhD Proposal – Slide 12
Clickable reference links preserved.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107.02941" TargetMode="External"/><Relationship Id="rId4" Type="http://schemas.openxmlformats.org/officeDocument/2006/relationships/hyperlink" Target="https://www.nist.gov/publications/computer-security-incident-handling-guid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3853" y="4999038"/>
            <a:ext cx="263162" cy="88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hlinkClick r:id="rId4"/>
          </p:cNvPr>
          <p:cNvSpPr/>
          <p:nvPr/>
        </p:nvSpPr>
        <p:spPr>
          <a:xfrm>
            <a:off x="1257184" y="5349875"/>
            <a:ext cx="52850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hlinkClick r:id="rId5"/>
          </p:cNvPr>
          <p:cNvSpPr/>
          <p:nvPr/>
        </p:nvSpPr>
        <p:spPr>
          <a:xfrm>
            <a:off x="1887264" y="53498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184" y="46640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007884" y="4664075"/>
            <a:ext cx="8214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930884" y="4664075"/>
            <a:ext cx="611332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50387" y="3063875"/>
            <a:ext cx="2742514" cy="151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196051" y="3063875"/>
            <a:ext cx="2742514" cy="151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994</Words>
  <Application>Microsoft Macintosh PowerPoint</Application>
  <PresentationFormat>Custom</PresentationFormat>
  <Paragraphs>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Mohsin, Hamza (Stud. I - UXM)</cp:lastModifiedBy>
  <cp:revision>5</cp:revision>
  <dcterms:created xsi:type="dcterms:W3CDTF">2026-01-26T00:01:58Z</dcterms:created>
  <dcterms:modified xsi:type="dcterms:W3CDTF">2026-01-26T00:09:48Z</dcterms:modified>
</cp:coreProperties>
</file>